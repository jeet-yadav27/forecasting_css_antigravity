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43D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D6F6"/>
                </a:solidFill>
              </a:rPr>
              <a:t>Transformer Projection Report — Dual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3D9AD"/>
                </a:solidFill>
              </a:rPr>
              <a:t>Part: Part_A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2B0"/>
                </a:solidFill>
              </a:rPr>
              <a:t>Baseline Transformer  +  CM Transformer  |  CM Date: 2023-06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2B0"/>
                </a:solidFill>
              </a:rPr>
              <a:t>Generated: 2026-09-03 00:16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D6F6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Forecast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12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743200" cy="45720"/>
          </a:xfrm>
          <a:prstGeom prst="rect">
            <a:avLst/>
          </a:prstGeom>
          <a:solidFill>
            <a:srgbClr val="FFB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Historical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B35"/>
                </a:solidFill>
              </a:rPr>
              <a:t>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Baseline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644 claims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097280"/>
            <a:ext cx="2743200" cy="45720"/>
          </a:xfrm>
          <a:prstGeom prst="rect">
            <a:avLst/>
          </a:prstGeom>
          <a:solidFill>
            <a:srgbClr val="43D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CM Total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3D9AD"/>
                </a:solidFill>
              </a:rPr>
              <a:t>707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34639"/>
            <a:ext cx="2743200" cy="4572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Claims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584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2834639"/>
            <a:ext cx="2743200" cy="45720"/>
          </a:xfrm>
          <a:prstGeom prst="rect">
            <a:avLst/>
          </a:prstGeom>
          <a:solidFill>
            <a:srgbClr val="FFB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Reduction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B35"/>
                </a:solidFill>
              </a:rPr>
              <a:t>0.3%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834639"/>
            <a:ext cx="27432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Est.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</a:rPr>
              <a:t>$1,757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B0"/>
                </a:solidFill>
              </a:rPr>
              <a:t>CM Transformer: adj_prod=24,935  |  avg_peak_prod=25,000  |  FCOK months=42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Projection Chart — Baseline vs CM Transformer</a:t>
            </a:r>
          </a:p>
        </p:txBody>
      </p:sp>
      <p:pic>
        <p:nvPicPr>
          <p:cNvPr id="3" name="Picture 2" descr="chart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1170432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CM-Adjusted Production Trajectory (Input to CM Transformer)</a:t>
            </a:r>
          </a:p>
        </p:txBody>
      </p:sp>
      <p:pic>
        <p:nvPicPr>
          <p:cNvPr id="3" name="Picture 2" descr="chart_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114300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Month-by-Month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8580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108"/>
                <a:gridCol w="1685108"/>
                <a:gridCol w="1685108"/>
                <a:gridCol w="1685108"/>
                <a:gridCol w="1685108"/>
                <a:gridCol w="1685108"/>
                <a:gridCol w="1685112"/>
              </a:tblGrid>
              <a:tr h="34747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Baseline_Claims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CM_Claims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Monthly_Reduction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Cumulative_Reduction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Reduction_%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Cost_Savings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48.2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57.3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50.4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57.4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53.1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59.4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57.6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62.0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62.4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60.3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3.3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1756.9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58.5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62.7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54.4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55.9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58.8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51.3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55.9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46.8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57.6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44.0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52.3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