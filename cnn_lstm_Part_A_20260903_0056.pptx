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43D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CD6F6"/>
                </a:solidFill>
              </a:rPr>
              <a:t>CNN-LSTM Projection Report — Dual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3D9AD"/>
                </a:solidFill>
              </a:rPr>
              <a:t>Part: Part_A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2B0"/>
                </a:solidFill>
              </a:rPr>
              <a:t>Baseline+CM CNN-LSTM  |  CM Date: 2023-06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92B0"/>
                </a:solidFill>
              </a:rPr>
              <a:t>Generated: 2026-09-03 00:56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CD6F6"/>
                </a:solidFill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274320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7432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Forecast Horizon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C63FF"/>
                </a:solidFill>
              </a:rPr>
              <a:t>12 months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097280"/>
            <a:ext cx="274320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0" y="1097280"/>
            <a:ext cx="2743200" cy="45720"/>
          </a:xfrm>
          <a:prstGeom prst="rect">
            <a:avLst/>
          </a:prstGeom>
          <a:solidFill>
            <a:srgbClr val="FFB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Historical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645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BB35"/>
                </a:solidFill>
              </a:rPr>
              <a:t>48 months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274320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27432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Baseline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645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C63FF"/>
                </a:solidFill>
              </a:rPr>
              <a:t>692 claims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097280"/>
            <a:ext cx="274320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0" y="1097280"/>
            <a:ext cx="2743200" cy="45720"/>
          </a:xfrm>
          <a:prstGeom prst="rect">
            <a:avLst/>
          </a:prstGeom>
          <a:solidFill>
            <a:srgbClr val="43D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234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CM 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6459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3D9AD"/>
                </a:solidFill>
              </a:rPr>
              <a:t>649 claims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34639"/>
            <a:ext cx="274320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834639"/>
            <a:ext cx="2743200" cy="45720"/>
          </a:xfrm>
          <a:prstGeom prst="rect">
            <a:avLst/>
          </a:prstGeom>
          <a:solidFill>
            <a:srgbClr val="FF6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97179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Claims Saved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8327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584"/>
                </a:solidFill>
              </a:rPr>
              <a:t>43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2834639"/>
            <a:ext cx="274320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91840" y="2834639"/>
            <a:ext cx="2743200" cy="45720"/>
          </a:xfrm>
          <a:prstGeom prst="rect">
            <a:avLst/>
          </a:prstGeom>
          <a:solidFill>
            <a:srgbClr val="FFB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297179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Reduction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38327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BB35"/>
                </a:solidFill>
              </a:rPr>
              <a:t>6.2%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34639"/>
            <a:ext cx="274320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2834639"/>
            <a:ext cx="2743200" cy="4572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97179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2B0"/>
                </a:solidFill>
              </a:rPr>
              <a:t>Est. Savings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38327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FC3F7"/>
                </a:solidFill>
              </a:rPr>
              <a:t>$36,400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D6F6"/>
                </a:solidFill>
              </a:rPr>
              <a:t>Projection Chart — Baseline vs CM CNN-LSTM</a:t>
            </a:r>
          </a:p>
        </p:txBody>
      </p:sp>
      <p:pic>
        <p:nvPicPr>
          <p:cNvPr id="3" name="Picture 2" descr="cnn_lstm_chart_proj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40080"/>
            <a:ext cx="1170432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D6F6"/>
                </a:solidFill>
              </a:rPr>
              <a:t>CM-Adjusted Production (Input to CM CNN-LSTM)</a:t>
            </a:r>
          </a:p>
        </p:txBody>
      </p:sp>
      <p:pic>
        <p:nvPicPr>
          <p:cNvPr id="3" name="Picture 2" descr="cnn_lstm_chart_pro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85800"/>
            <a:ext cx="114300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D6F6"/>
                </a:solidFill>
              </a:rPr>
              <a:t>Month-by-Month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85800"/>
          <a:ext cx="1179576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108"/>
                <a:gridCol w="1685108"/>
                <a:gridCol w="1685108"/>
                <a:gridCol w="1685108"/>
                <a:gridCol w="1685108"/>
                <a:gridCol w="1685108"/>
                <a:gridCol w="1685112"/>
              </a:tblGrid>
              <a:tr h="347472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43D9AD"/>
                          </a:solidFill>
                        </a:rPr>
                        <a:t>Month</a:t>
                      </a:r>
                    </a:p>
                  </a:txBody>
                  <a:tcPr>
                    <a:solidFill>
                      <a:srgbClr val="12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43D9AD"/>
                          </a:solidFill>
                        </a:rPr>
                        <a:t>Baseline_Claims</a:t>
                      </a:r>
                    </a:p>
                  </a:txBody>
                  <a:tcPr>
                    <a:solidFill>
                      <a:srgbClr val="12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43D9AD"/>
                          </a:solidFill>
                        </a:rPr>
                        <a:t>CM_Claims</a:t>
                      </a:r>
                    </a:p>
                  </a:txBody>
                  <a:tcPr>
                    <a:solidFill>
                      <a:srgbClr val="12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43D9AD"/>
                          </a:solidFill>
                        </a:rPr>
                        <a:t>Monthly_Reduction</a:t>
                      </a:r>
                    </a:p>
                  </a:txBody>
                  <a:tcPr>
                    <a:solidFill>
                      <a:srgbClr val="12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43D9AD"/>
                          </a:solidFill>
                        </a:rPr>
                        <a:t>Cumulative_Reduction</a:t>
                      </a:r>
                    </a:p>
                  </a:txBody>
                  <a:tcPr>
                    <a:solidFill>
                      <a:srgbClr val="12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43D9AD"/>
                          </a:solidFill>
                        </a:rPr>
                        <a:t>Reduction_%</a:t>
                      </a:r>
                    </a:p>
                  </a:txBody>
                  <a:tcPr>
                    <a:solidFill>
                      <a:srgbClr val="1214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43D9AD"/>
                          </a:solidFill>
                        </a:rPr>
                        <a:t>Cost_Savings</a:t>
                      </a:r>
                    </a:p>
                  </a:txBody>
                  <a:tcPr>
                    <a:solidFill>
                      <a:srgbClr val="1214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2024-01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57.1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57.1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2024-02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61.0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61.0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2024-03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63.5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60.7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2.8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2.8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4.4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2357.1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2024-04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69.3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61.1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8.2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11.0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11.8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6973.3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2024-05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73.8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60.2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13.5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24.5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18.3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11491.7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2024-06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70.3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58.5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11.9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36.4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16.9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10080.0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2024-07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60.9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55.9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41.3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8.2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4222.1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2024-08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54.1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52.7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1.4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42.7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2.6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1204.3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2024-09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48.8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48.8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42.7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2024-10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44.6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44.6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42.7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2024-11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44.0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44.0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42.7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2024-12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45.0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44.9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0.1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42.8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0.2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CCD6F6"/>
                          </a:solidFill>
                        </a:rPr>
                        <a:t>72.0</a:t>
                      </a:r>
                    </a:p>
                  </a:txBody>
                  <a:tcPr>
                    <a:solidFill>
                      <a:srgbClr val="1A1D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