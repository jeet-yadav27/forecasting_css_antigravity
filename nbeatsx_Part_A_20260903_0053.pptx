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88952" cy="54864"/>
          </a:xfrm>
          <a:prstGeom prst="rect">
            <a:avLst/>
          </a:prstGeom>
          <a:solidFill>
            <a:srgbClr val="43D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CD6F6"/>
                </a:solidFill>
              </a:rPr>
              <a:t>N-BeatsX Projection Report — Dual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3D9AD"/>
                </a:solidFill>
              </a:rPr>
              <a:t>Part: Part_A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2B0"/>
                </a:solidFill>
              </a:rPr>
              <a:t>Generated: 2026-09-03 00:53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CD6F6"/>
                </a:solidFill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2743200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27432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Horizon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C63FF"/>
                </a:solidFill>
              </a:rPr>
              <a:t>12 months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097280"/>
            <a:ext cx="2743200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0" y="1097280"/>
            <a:ext cx="2743200" cy="45720"/>
          </a:xfrm>
          <a:prstGeom prst="rect">
            <a:avLst/>
          </a:prstGeom>
          <a:solidFill>
            <a:srgbClr val="FFB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645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BB35"/>
                </a:solidFill>
              </a:rPr>
              <a:t>48 months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2743200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27432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645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C63FF"/>
                </a:solidFill>
              </a:rPr>
              <a:t>705 claims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097280"/>
            <a:ext cx="2743200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0" y="1097280"/>
            <a:ext cx="2743200" cy="45720"/>
          </a:xfrm>
          <a:prstGeom prst="rect">
            <a:avLst/>
          </a:prstGeom>
          <a:solidFill>
            <a:srgbClr val="43D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CM 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645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3D9AD"/>
                </a:solidFill>
              </a:rPr>
              <a:t>655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34639"/>
            <a:ext cx="2743200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834639"/>
            <a:ext cx="2743200" cy="45720"/>
          </a:xfrm>
          <a:prstGeom prst="rect">
            <a:avLst/>
          </a:prstGeom>
          <a:solidFill>
            <a:srgbClr val="FF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97179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Saved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8327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584"/>
                </a:solidFill>
              </a:rPr>
              <a:t>51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2834639"/>
            <a:ext cx="2743200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91840" y="2834639"/>
            <a:ext cx="2743200" cy="45720"/>
          </a:xfrm>
          <a:prstGeom prst="rect">
            <a:avLst/>
          </a:prstGeom>
          <a:solidFill>
            <a:srgbClr val="FFB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297179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Reduction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38327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BB35"/>
                </a:solidFill>
              </a:rPr>
              <a:t>7.2%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834639"/>
            <a:ext cx="2743200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2834639"/>
            <a:ext cx="2743200" cy="457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297179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Savings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38327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FC3F7"/>
                </a:solidFill>
              </a:rPr>
              <a:t>$42,983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D6F6"/>
                </a:solidFill>
              </a:rPr>
              <a:t>Projection Chart — Baseline vs CM N-BeatsX</a:t>
            </a:r>
          </a:p>
        </p:txBody>
      </p:sp>
      <p:pic>
        <p:nvPicPr>
          <p:cNvPr id="3" name="Picture 2" descr="nbeatsx_chart_proj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40080"/>
            <a:ext cx="1170432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D6F6"/>
                </a:solidFill>
              </a:rPr>
              <a:t>CM Production Trajectory (input to CM N-BeatsX)</a:t>
            </a:r>
          </a:p>
        </p:txBody>
      </p:sp>
      <p:pic>
        <p:nvPicPr>
          <p:cNvPr id="3" name="Picture 2" descr="nbeatsx_chart_pro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85800"/>
            <a:ext cx="1143000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D6F6"/>
                </a:solidFill>
              </a:rPr>
              <a:t>Month-by-Month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85800"/>
          <a:ext cx="11795760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5108"/>
                <a:gridCol w="1685108"/>
                <a:gridCol w="1685108"/>
                <a:gridCol w="1685108"/>
                <a:gridCol w="1685108"/>
                <a:gridCol w="1685108"/>
                <a:gridCol w="1685112"/>
              </a:tblGrid>
              <a:tr h="347472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43D9AD"/>
                          </a:solidFill>
                        </a:rPr>
                        <a:t>Month</a:t>
                      </a:r>
                    </a:p>
                  </a:txBody>
                  <a:tcPr>
                    <a:solidFill>
                      <a:srgbClr val="12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43D9AD"/>
                          </a:solidFill>
                        </a:rPr>
                        <a:t>Baseline_Claims</a:t>
                      </a:r>
                    </a:p>
                  </a:txBody>
                  <a:tcPr>
                    <a:solidFill>
                      <a:srgbClr val="12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43D9AD"/>
                          </a:solidFill>
                        </a:rPr>
                        <a:t>CM_Claims</a:t>
                      </a:r>
                    </a:p>
                  </a:txBody>
                  <a:tcPr>
                    <a:solidFill>
                      <a:srgbClr val="12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43D9AD"/>
                          </a:solidFill>
                        </a:rPr>
                        <a:t>Monthly_Reduction</a:t>
                      </a:r>
                    </a:p>
                  </a:txBody>
                  <a:tcPr>
                    <a:solidFill>
                      <a:srgbClr val="12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43D9AD"/>
                          </a:solidFill>
                        </a:rPr>
                        <a:t>Cumulative_Reduction</a:t>
                      </a:r>
                    </a:p>
                  </a:txBody>
                  <a:tcPr>
                    <a:solidFill>
                      <a:srgbClr val="12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43D9AD"/>
                          </a:solidFill>
                        </a:rPr>
                        <a:t>Reduction_%</a:t>
                      </a:r>
                    </a:p>
                  </a:txBody>
                  <a:tcPr>
                    <a:solidFill>
                      <a:srgbClr val="12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43D9AD"/>
                          </a:solidFill>
                        </a:rPr>
                        <a:t>Cost_Savings</a:t>
                      </a:r>
                    </a:p>
                  </a:txBody>
                  <a:tcPr>
                    <a:solidFill>
                      <a:srgbClr val="1214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2024-01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56.4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56.4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2024-02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59.7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59.7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2024-03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62.2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61.4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0.8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0.8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1.3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681.4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2024-04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68.3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61.9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6.3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7.1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9.2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5365.2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2024-05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69.2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61.0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8.2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15.4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11.9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7007.8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2024-06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67.0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59.1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8.0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23.3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11.9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6758.3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2024-07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62.4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54.9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7.5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30.8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12.0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6358.9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2024-08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58.1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50.5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7.6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38.4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13.0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6437.8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2024-09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52.2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48.4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3.8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42.2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7.3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3220.1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2024-10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51.3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47.8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3.5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45.7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6.8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2982.1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2024-11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49.7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47.6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2.1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47.8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4.3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1826.1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2024-12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48.8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46.1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2.8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50.6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5.7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2345.1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